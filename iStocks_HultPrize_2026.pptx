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04"/>
  </p:normalViewPr>
  <p:slideViewPr>
    <p:cSldViewPr snapToGrid="0" snapToObjects="1">
      <p:cViewPr>
        <p:scale>
          <a:sx n="99" d="100"/>
          <a:sy n="99" d="100"/>
        </p:scale>
        <p:origin x="960" y="624"/>
      </p:cViewPr>
      <p:guideLst>
        <p:guide orient="horz" pos="2160"/>
        <p:guide pos="2880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9EC807-3B8F-F148-AC9D-B5E65FB8AECA}" type="datetimeFigureOut">
              <a:rPr lang="en-US" smtClean="0"/>
              <a:t>2/15/26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9707D7-532A-3546-A1A2-2824DC5BFA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822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9707D7-532A-3546-A1A2-2824DC5BFA9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528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stocks.codes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istocks.codes/" TargetMode="Externa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docs.google.com/spreadsheets/d/1FBF0DQ7OvbC6qMLA-DRlWNEC5OXlrWtAetMN43bYvL0/edit?usp=sharing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36576"/>
            <a:ext cx="12191695" cy="64008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Calibri"/>
              </a:defRPr>
            </a:pPr>
            <a:r>
              <a:rPr dirty="0"/>
              <a:t>iStocks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7373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rPr dirty="0"/>
              <a:t>Stocks       Sangraha       AI Database       About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9487" y="1277785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iStocks: AI-Powered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9487" y="2153367"/>
            <a:ext cx="1033272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34D399"/>
                </a:solidFill>
                <a:latin typeface="Calibri"/>
              </a:defRPr>
            </a:pPr>
            <a:r>
              <a:rPr dirty="0"/>
              <a:t>Prompt </a:t>
            </a:r>
            <a:r>
              <a:rPr lang="en-US" dirty="0"/>
              <a:t>Based </a:t>
            </a:r>
            <a:r>
              <a:rPr dirty="0"/>
              <a:t>Algo Trading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67727"/>
            <a:ext cx="82296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9CA3AF"/>
                </a:solidFill>
                <a:latin typeface="Calibri"/>
              </a:defRPr>
            </a:pPr>
            <a:r>
              <a:rPr dirty="0"/>
              <a:t>NLP-based trading in English and 40+ Indian regional languages</a:t>
            </a:r>
            <a:br>
              <a:rPr lang="en-US" dirty="0"/>
            </a:br>
            <a:r>
              <a:rPr lang="en-US" dirty="0"/>
              <a:t>“</a:t>
            </a:r>
            <a:r>
              <a:rPr lang="en-US" b="1" dirty="0"/>
              <a:t>Buy 100 Reliance stocks when RSI Drops below 30</a:t>
            </a:r>
            <a:r>
              <a:rPr lang="en-US" dirty="0"/>
              <a:t>” and Boom your trade executed while you are in office or maybe attending some important environment conference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1645920" y="4818888"/>
            <a:ext cx="2103120" cy="109728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45920" y="488906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AI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207328"/>
            <a:ext cx="2103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rPr dirty="0"/>
              <a:t>Angle 1.0</a:t>
            </a:r>
            <a:r>
              <a:rPr lang="en-US" dirty="0"/>
              <a:t> – istocks Fine tuned model</a:t>
            </a: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4023360" y="4785754"/>
            <a:ext cx="2103120" cy="109728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023360" y="48771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Real-Time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520732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rPr dirty="0"/>
              <a:t>17+ Stocks Live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750129"/>
            <a:ext cx="2103120" cy="109728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485344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NLP Chat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19545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rPr dirty="0"/>
              <a:t>40+ Languages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78240" y="4714502"/>
            <a:ext cx="2103120" cy="109728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78240" y="4829691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Algo Trading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519545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rPr dirty="0"/>
              <a:t>Prompt-Based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6126480"/>
            <a:ext cx="8229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Calibri"/>
              </a:defRPr>
            </a:pPr>
            <a:r>
              <a:rPr dirty="0"/>
              <a:t>Team iStocks   |   IIT Roorkee   |   </a:t>
            </a:r>
            <a:r>
              <a:rPr dirty="0">
                <a:solidFill>
                  <a:schemeClr val="bg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istocks.codes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6803136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7171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90% of Indian Traders Are Losing Money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Calibri"/>
              </a:defRPr>
            </a:pPr>
            <a:r>
              <a:rPr dirty="0"/>
              <a:t>According to SEBI, over </a:t>
            </a:r>
            <a:r>
              <a:rPr b="1" dirty="0"/>
              <a:t>90% of Indian traders </a:t>
            </a:r>
            <a:r>
              <a:rPr dirty="0"/>
              <a:t>lose money because they cannot access algorithmic trading. The reason: they cannot write code.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2560320" cy="173736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87171"/>
                </a:solidFill>
                <a:latin typeface="Calibri"/>
              </a:defRPr>
            </a:pPr>
            <a:r>
              <a:t>30M+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Calibri"/>
              </a:defRPr>
            </a:pPr>
            <a:r>
              <a:t>Retail traders</a:t>
            </a:r>
            <a:br/>
            <a:r>
              <a:t>21% YoY growth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194560"/>
            <a:ext cx="2560320" cy="173736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66160" y="22860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F4444"/>
                </a:solidFill>
                <a:latin typeface="Calibri"/>
              </a:defRPr>
            </a:pPr>
            <a:r>
              <a:t>90%+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9260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Calibri"/>
              </a:defRPr>
            </a:pPr>
            <a:r>
              <a:t>In net loss</a:t>
            </a:r>
            <a:br/>
            <a:r>
              <a:t>SEBI Report 2024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194560"/>
            <a:ext cx="2560320" cy="173736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2860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$11B+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260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Calibri"/>
              </a:defRPr>
            </a:pPr>
            <a:r>
              <a:t>Daily trading</a:t>
            </a:r>
            <a:br/>
            <a:r>
              <a:t>volume in India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2194560"/>
            <a:ext cx="2560320" cy="173736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35440" y="22860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B5CF6"/>
                </a:solidFill>
                <a:latin typeface="Calibri"/>
              </a:defRPr>
            </a:pPr>
            <a:r>
              <a:t>&lt; 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9260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Calibri"/>
              </a:defRPr>
            </a:pPr>
            <a:r>
              <a:t>Have access to</a:t>
            </a:r>
            <a:br/>
            <a:r>
              <a:t>algo trading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06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THE OPPORTUNITY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617720"/>
            <a:ext cx="5394960" cy="41148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654296"/>
            <a:ext cx="5029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4D399"/>
                </a:solidFill>
                <a:latin typeface="Calibri"/>
              </a:defRPr>
            </a:pPr>
            <a:r>
              <a:t>13Cr to 50Cr Demat accounts by 2030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617720"/>
            <a:ext cx="5394960" cy="41148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4654296"/>
            <a:ext cx="5029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Calibri"/>
              </a:defRPr>
            </a:pPr>
            <a:r>
              <a:t>73% of Gen Z want to invest but lack knowledge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120640"/>
            <a:ext cx="5394960" cy="41148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157216"/>
            <a:ext cx="5029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9E0B"/>
                </a:solidFill>
                <a:latin typeface="Calibri"/>
              </a:defRPr>
            </a:pPr>
            <a:r>
              <a:t>$7B+ daily volume from retail and semi-pro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5120640"/>
            <a:ext cx="5394960" cy="41148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5157216"/>
            <a:ext cx="5029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5CF6"/>
                </a:solidFill>
                <a:latin typeface="Calibri"/>
              </a:defRPr>
            </a:pPr>
            <a:r>
              <a:t>800M+ smartphones — fintech-ready population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iStocks: NLP-Based Algo Trading </a:t>
            </a:r>
            <a:r>
              <a:rPr lang="en-US" dirty="0"/>
              <a:t>-</a:t>
            </a:r>
            <a:r>
              <a:rPr dirty="0"/>
              <a:t> No Code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Calibri"/>
              </a:defRPr>
            </a:pPr>
            <a:r>
              <a:t>An NLP-based platform that works in English and 40+ Indian regional languages. Set your strategy and let AI execute.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560320" cy="256032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590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4D399"/>
                </a:solidFill>
                <a:latin typeface="Calibri"/>
              </a:defRPr>
            </a:pPr>
            <a:r>
              <a:rPr dirty="0"/>
              <a:t>AI Stock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938780"/>
            <a:ext cx="146304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152140"/>
            <a:ext cx="228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rPr dirty="0"/>
              <a:t>Angle 1.0 analyzes RSI, MACD,</a:t>
            </a:r>
            <a:br>
              <a:rPr dirty="0"/>
            </a:br>
            <a:r>
              <a:rPr dirty="0"/>
              <a:t>SMA, Bollinger Bands </a:t>
            </a:r>
            <a:r>
              <a:rPr lang="en-US" dirty="0"/>
              <a:t>-</a:t>
            </a:r>
            <a:r>
              <a:rPr dirty="0"/>
              <a:t> explains</a:t>
            </a:r>
            <a:br>
              <a:rPr dirty="0"/>
            </a:br>
            <a:r>
              <a:rPr dirty="0"/>
              <a:t>in 40+ Indian languages.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103120"/>
            <a:ext cx="2560320" cy="256032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66160" y="2590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B82F6"/>
                </a:solidFill>
                <a:latin typeface="Calibri"/>
              </a:defRPr>
            </a:pPr>
            <a:r>
              <a:rPr dirty="0"/>
              <a:t>NLP Database Chat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2951480"/>
            <a:ext cx="146304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3320" y="3164840"/>
            <a:ext cx="228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rPr dirty="0"/>
              <a:t>"Compare RELIANCE with TCS"</a:t>
            </a:r>
            <a:br>
              <a:rPr dirty="0"/>
            </a:br>
            <a:r>
              <a:rPr dirty="0"/>
              <a:t>gets instant, data-driven</a:t>
            </a:r>
            <a:br>
              <a:rPr dirty="0"/>
            </a:br>
            <a:r>
              <a:rPr dirty="0"/>
              <a:t>analysis </a:t>
            </a:r>
            <a:r>
              <a:rPr lang="en-US" dirty="0"/>
              <a:t>-</a:t>
            </a:r>
            <a:r>
              <a:rPr dirty="0"/>
              <a:t> in your language.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103120"/>
            <a:ext cx="2560320" cy="256032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2590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8B5CF6"/>
                </a:solidFill>
                <a:latin typeface="Calibri"/>
              </a:defRPr>
            </a:pPr>
            <a:r>
              <a:rPr dirty="0"/>
              <a:t>Prompt Algo Trading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0" y="2938780"/>
            <a:ext cx="146304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3164840"/>
            <a:ext cx="228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rPr dirty="0"/>
              <a:t>"Buy 100 RELIANCE </a:t>
            </a:r>
            <a:r>
              <a:rPr lang="en-US" dirty="0"/>
              <a:t>stocks </a:t>
            </a:r>
            <a:r>
              <a:rPr dirty="0"/>
              <a:t>when RSI</a:t>
            </a:r>
            <a:r>
              <a:rPr lang="en-US" dirty="0"/>
              <a:t> </a:t>
            </a:r>
            <a:r>
              <a:rPr dirty="0"/>
              <a:t>drops below 30" </a:t>
            </a:r>
            <a:r>
              <a:rPr lang="en-US" dirty="0"/>
              <a:t>-</a:t>
            </a:r>
            <a:r>
              <a:rPr dirty="0"/>
              <a:t> multi-agent</a:t>
            </a:r>
            <a:r>
              <a:rPr lang="en-US" dirty="0"/>
              <a:t> </a:t>
            </a:r>
            <a:r>
              <a:rPr dirty="0"/>
              <a:t>AI executes </a:t>
            </a:r>
            <a:r>
              <a:rPr lang="en-US" dirty="0"/>
              <a:t>your strategy when all condition </a:t>
            </a:r>
            <a:r>
              <a:rPr lang="en-US" dirty="0" err="1"/>
              <a:t>mets</a:t>
            </a:r>
            <a:r>
              <a:rPr dirty="0"/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2103120"/>
            <a:ext cx="2560320" cy="256032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35440" y="2590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9E0B"/>
                </a:solidFill>
                <a:latin typeface="Calibri"/>
              </a:defRPr>
            </a:pPr>
            <a:r>
              <a:rPr dirty="0"/>
              <a:t>Set and Forget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80" y="2938780"/>
            <a:ext cx="14630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72600" y="3139440"/>
            <a:ext cx="228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rPr dirty="0"/>
              <a:t>Daily job workers set strategies</a:t>
            </a:r>
            <a:br>
              <a:rPr dirty="0"/>
            </a:br>
            <a:r>
              <a:rPr dirty="0"/>
              <a:t>once </a:t>
            </a:r>
            <a:r>
              <a:rPr lang="en-US" dirty="0"/>
              <a:t>-</a:t>
            </a:r>
            <a:r>
              <a:rPr dirty="0"/>
              <a:t> AI executes automatically.</a:t>
            </a:r>
            <a:br>
              <a:rPr dirty="0"/>
            </a:br>
            <a:r>
              <a:rPr dirty="0"/>
              <a:t>Get notified on your phone.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892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MULTI-AGENT ARCHITECTURE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303520"/>
            <a:ext cx="2560320" cy="91440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54864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Natural Language</a:t>
            </a:r>
            <a:br>
              <a:rPr dirty="0"/>
            </a:br>
            <a:r>
              <a:rPr dirty="0"/>
              <a:t>Prompt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532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B7280"/>
                </a:solidFill>
                <a:latin typeface="Calibri"/>
              </a:defRPr>
            </a:pPr>
            <a:r>
              <a:rPr dirty="0"/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66160" y="5303520"/>
            <a:ext cx="2560320" cy="91440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66160" y="5508054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Trading Analysis</a:t>
            </a:r>
            <a:br>
              <a:rPr dirty="0"/>
            </a:br>
            <a:r>
              <a:rPr dirty="0"/>
              <a:t>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5532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B7280"/>
                </a:solidFill>
                <a:latin typeface="Calibri"/>
              </a:defRPr>
            </a:pPr>
            <a:r>
              <a:rPr dirty="0"/>
              <a:t>&gt;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5303520"/>
            <a:ext cx="2560320" cy="91440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5507748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Watching</a:t>
            </a:r>
            <a:br>
              <a:rPr dirty="0"/>
            </a:br>
            <a:r>
              <a:rPr dirty="0"/>
              <a:t>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555639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B7280"/>
                </a:solidFill>
                <a:latin typeface="Calibri"/>
              </a:defRPr>
            </a:pPr>
            <a:r>
              <a:rPr dirty="0"/>
              <a:t>&gt;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5303520"/>
            <a:ext cx="2560320" cy="91440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35440" y="5529299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Automated</a:t>
            </a:r>
            <a:br>
              <a:rPr dirty="0"/>
            </a:br>
            <a:r>
              <a:rPr dirty="0"/>
              <a:t>Execution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/>
              </a:defRPr>
            </a:pPr>
            <a:r>
              <a:t>LIVE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Not a Prototype — A Deployed, Working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4D399"/>
                </a:solidFill>
                <a:latin typeface="Calibri"/>
              </a:defRPr>
            </a:pPr>
            <a:r>
              <a:rPr dirty="0"/>
              <a:t>Live at istocks.codes — open it right now to verify.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90660"/>
            <a:ext cx="3657600" cy="268426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" y="2660904"/>
            <a:ext cx="3444240" cy="210871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2120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Calibri"/>
              </a:defRPr>
            </a:pPr>
            <a:r>
              <a:t>Stock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390658"/>
            <a:ext cx="3657600" cy="2684261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tock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3880" y="2643710"/>
            <a:ext cx="3445200" cy="212591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97680" y="52120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AI Stock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390658"/>
            <a:ext cx="3657600" cy="2684261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Database_analys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643710"/>
            <a:ext cx="3474720" cy="212591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38160" y="52120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5CF6"/>
                </a:solidFill>
                <a:latin typeface="Calibri"/>
              </a:defRPr>
            </a:pPr>
            <a:r>
              <a:t>AI Database Chat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5943600"/>
            <a:ext cx="448056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55567" y="5999511"/>
            <a:ext cx="44805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 dirty="0"/>
              <a:t>LIVE DEMO  |  </a:t>
            </a:r>
            <a:r>
              <a:rPr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istocks.codes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FINANCIAL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18-Month P&amp;L Projection (Feb 2026 — Jul 2027)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Detailed P&amp;L prepared for AJVC. Full sheet available on request.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560320" cy="146304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59E0B"/>
                </a:solidFill>
                <a:latin typeface="Calibri"/>
              </a:defRPr>
            </a:pPr>
            <a:r>
              <a:t>$1.65M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Calibri"/>
              </a:defRPr>
            </a:pPr>
            <a:r>
              <a:t>Gross Revenue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103120"/>
            <a:ext cx="2560320" cy="146304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66160" y="2240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4D399"/>
                </a:solidFill>
                <a:latin typeface="Calibri"/>
              </a:defRPr>
            </a:pPr>
            <a:r>
              <a:t>$996K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834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Calibri"/>
              </a:defRPr>
            </a:pPr>
            <a:r>
              <a:t>Net Revenue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103120"/>
            <a:ext cx="2560320" cy="146304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240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4D399"/>
                </a:solidFill>
                <a:latin typeface="Calibri"/>
              </a:defRPr>
            </a:pPr>
            <a:r>
              <a:t>$753K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834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Calibri"/>
              </a:defRPr>
            </a:pPr>
            <a:r>
              <a:t>PAT (18m)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2103120"/>
            <a:ext cx="2560320" cy="146304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35440" y="2240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B82F6"/>
                </a:solidFill>
                <a:latin typeface="Calibri"/>
              </a:defRPr>
            </a:pPr>
            <a:r>
              <a:t>Month 10-11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834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Calibri"/>
              </a:defRPr>
            </a:pPr>
            <a:r>
              <a:t>Breakeven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94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REVENUE STREAMS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06240"/>
            <a:ext cx="5486400" cy="384048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23367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Brokerage Charges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23367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34D399"/>
                </a:solidFill>
                <a:latin typeface="Calibri"/>
              </a:defRPr>
            </a:pPr>
            <a:r>
              <a:t>$1.52M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23367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Post-SEBI broker license (Jan 2027)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663440"/>
            <a:ext cx="5486400" cy="384048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69087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Retail Trader Subs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69087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34D399"/>
                </a:solidFill>
                <a:latin typeface="Calibri"/>
              </a:defRPr>
            </a:pPr>
            <a:r>
              <a:t>$84.6K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469087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Pro plan at ~$5/month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120640"/>
            <a:ext cx="5486400" cy="384048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514807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CA Subscriptions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14807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34D399"/>
                </a:solidFill>
                <a:latin typeface="Calibri"/>
              </a:defRPr>
            </a:pPr>
            <a:r>
              <a:t>$38.5K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514807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Financial professionals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577840"/>
            <a:ext cx="5486400" cy="384048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60527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Trading Firm Subs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60527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34D399"/>
                </a:solidFill>
                <a:latin typeface="Calibri"/>
              </a:defRPr>
            </a:pPr>
            <a:r>
              <a:t>$3.2K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560527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Sub-brokers and small firms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794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7171"/>
                </a:solidFill>
                <a:latin typeface="Calibri"/>
              </a:defRPr>
            </a:pPr>
            <a:r>
              <a:t>COST STRUCTURE (18m)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0" y="4206240"/>
            <a:ext cx="4572000" cy="329184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040880" y="4224527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1D5DB"/>
                </a:solidFill>
                <a:latin typeface="Calibri"/>
              </a:defRPr>
            </a:pPr>
            <a:r>
              <a:t>Team (8 FTEs)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4224527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87171"/>
                </a:solidFill>
                <a:latin typeface="Calibri"/>
              </a:defRPr>
            </a:pPr>
            <a:r>
              <a:t>$112K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0" y="4590288"/>
            <a:ext cx="4572000" cy="329184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040880" y="4608575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1D5DB"/>
                </a:solidFill>
                <a:latin typeface="Calibri"/>
              </a:defRPr>
            </a:pPr>
            <a:r>
              <a:t>Marketing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4608575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8B5CF6"/>
                </a:solidFill>
                <a:latin typeface="Calibri"/>
              </a:defRPr>
            </a:pPr>
            <a:r>
              <a:t>$130K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0" y="4974336"/>
            <a:ext cx="4572000" cy="329184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040880" y="4992623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1D5DB"/>
                </a:solidFill>
                <a:latin typeface="Calibri"/>
              </a:defRPr>
            </a:pPr>
            <a:r>
              <a:t>Market Data API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4992623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B82F6"/>
                </a:solidFill>
                <a:latin typeface="Calibri"/>
              </a:defRPr>
            </a:pPr>
            <a:r>
              <a:t>$44.6K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0" y="5358383"/>
            <a:ext cx="4572000" cy="329184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040880" y="5376671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1D5DB"/>
                </a:solidFill>
                <a:latin typeface="Calibri"/>
              </a:defRPr>
            </a:pPr>
            <a:r>
              <a:t>LLM API Cost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0" y="5376671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4D399"/>
                </a:solidFill>
                <a:latin typeface="Calibri"/>
              </a:defRPr>
            </a:pPr>
            <a:r>
              <a:t>$88.5K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58000" y="5742431"/>
            <a:ext cx="4572000" cy="329184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040880" y="5760719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1D5DB"/>
                </a:solidFill>
                <a:latin typeface="Calibri"/>
              </a:defRPr>
            </a:pPr>
            <a:r>
              <a:t>Cloud and Server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5760719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59E0B"/>
                </a:solidFill>
                <a:latin typeface="Calibri"/>
              </a:defRPr>
            </a:pPr>
            <a:r>
              <a:t>$140K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58000" y="6126479"/>
            <a:ext cx="4572000" cy="329184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040880" y="6144767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1D5DB"/>
                </a:solidFill>
                <a:latin typeface="Calibri"/>
              </a:defRPr>
            </a:pPr>
            <a:r>
              <a:t>Rent + Admin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0" y="6144767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9CA3AF"/>
                </a:solidFill>
                <a:latin typeface="Calibri"/>
              </a:defRPr>
            </a:pPr>
            <a:r>
              <a:t>$2.6K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USER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User Acquisition and Revenue 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Conservative projections based on channel-wise conversion funnels. 18-month horizon.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103120"/>
            <a:ext cx="2103120" cy="228600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1554480" cy="34747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203703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Month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43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4D399"/>
                </a:solidFill>
                <a:latin typeface="Calibri"/>
              </a:defRPr>
            </a:pPr>
            <a:r>
              <a:t>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00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5661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Beta users</a:t>
            </a:r>
            <a:br/>
            <a:r>
              <a:t>No marketing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834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B7280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79" y="2103120"/>
            <a:ext cx="2103120" cy="228600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971799" y="2194560"/>
            <a:ext cx="1554480" cy="34747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71799" y="2203703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Month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79" y="2743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4D399"/>
                </a:solidFill>
                <a:latin typeface="Calibri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79" y="3200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users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79" y="35661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Organic + College</a:t>
            </a:r>
            <a:br/>
            <a:r>
              <a:t>visits begin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834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B7280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2103120"/>
            <a:ext cx="2103120" cy="228600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303520" y="2194560"/>
            <a:ext cx="1554480" cy="34747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03520" y="2203703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Month 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2743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4D399"/>
                </a:solidFill>
                <a:latin typeface="Calibri"/>
              </a:defRPr>
            </a:pPr>
            <a:r>
              <a:t>27,250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200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users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35661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Telegram + Discord</a:t>
            </a:r>
            <a:br/>
            <a:r>
              <a:t>channels active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2834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B7280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60919" y="2103120"/>
            <a:ext cx="2103120" cy="228600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635240" y="2194560"/>
            <a:ext cx="1554480" cy="34747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35240" y="2203703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Month 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19" y="2743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4D399"/>
                </a:solidFill>
                <a:latin typeface="Calibri"/>
              </a:defRPr>
            </a:pPr>
            <a:r>
              <a:t>45,000+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19" y="3200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users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19" y="35661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YouTube ads +</a:t>
            </a:r>
            <a:br/>
            <a:r>
              <a:t>word of mouth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2834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B7280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92640" y="2103120"/>
            <a:ext cx="2103120" cy="228600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966960" y="2194560"/>
            <a:ext cx="1554480" cy="34747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966960" y="2203703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Month 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2743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4D399"/>
                </a:solidFill>
                <a:latin typeface="Calibri"/>
              </a:defRPr>
            </a:pPr>
            <a:r>
              <a:t>75,000+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3200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users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35661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Multi-channel</a:t>
            </a:r>
            <a:br/>
            <a:r>
              <a:t>acquisition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663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Calibri"/>
              </a:defRPr>
            </a:pPr>
            <a:r>
              <a:t>ACQUISITION CHANNELS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074920"/>
            <a:ext cx="2560320" cy="137160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1520" y="5166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4D399"/>
                </a:solidFill>
                <a:latin typeface="Calibri"/>
              </a:defRPr>
            </a:pPr>
            <a:r>
              <a:t>College Visits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5440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1D5DB"/>
                </a:solidFill>
                <a:latin typeface="Calibri"/>
              </a:defRPr>
            </a:pPr>
            <a:r>
              <a:t>$17.6K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760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5 colleges/month</a:t>
            </a:r>
            <a:br/>
            <a:r>
              <a:t>250 signups each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566160" y="5074920"/>
            <a:ext cx="2560320" cy="137160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566160" y="5166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82F6"/>
                </a:solidFill>
                <a:latin typeface="Calibri"/>
              </a:defRPr>
            </a:pPr>
            <a:r>
              <a:t>Trading YouTube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66160" y="5440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1D5DB"/>
                </a:solidFill>
                <a:latin typeface="Calibri"/>
              </a:defRPr>
            </a:pPr>
            <a:r>
              <a:t>$33.5K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66160" y="5760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2 channels/month</a:t>
            </a:r>
            <a:br/>
            <a:r>
              <a:t>150 signups each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0" y="5074920"/>
            <a:ext cx="2560320" cy="137160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00800" y="5166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5CF6"/>
                </a:solidFill>
                <a:latin typeface="Calibri"/>
              </a:defRPr>
            </a:pPr>
            <a:r>
              <a:t>Telegram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5440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1D5DB"/>
                </a:solidFill>
                <a:latin typeface="Calibri"/>
              </a:defRPr>
            </a:pPr>
            <a:r>
              <a:t>$60.9K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5760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2,000 signups/month</a:t>
            </a:r>
            <a:br/>
            <a:r>
              <a:t>Highest volume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235440" y="5074920"/>
            <a:ext cx="2560320" cy="137160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235440" y="5166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Calibri"/>
              </a:defRPr>
            </a:pPr>
            <a:r>
              <a:t>Discord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5440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1D5DB"/>
                </a:solidFill>
                <a:latin typeface="Calibri"/>
              </a:defRPr>
            </a:pPr>
            <a:r>
              <a:t>$18.2K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35440" y="5760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600 signups/month</a:t>
            </a:r>
            <a:br/>
            <a:r>
              <a:t>Highest quality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Calibri"/>
              </a:defRPr>
            </a:pPr>
            <a:r>
              <a:t>SOCIAL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Aligned with UN Sustainable Development Goals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438912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463040" y="2011680"/>
            <a:ext cx="2011680" cy="34747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63040" y="2020824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SDG 1: No Poverty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39" y="3095741"/>
            <a:ext cx="3048367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1D5DB"/>
                </a:solidFill>
                <a:latin typeface="Calibri"/>
              </a:defRPr>
            </a:pPr>
            <a:r>
              <a:rPr dirty="0"/>
              <a:t>90%+ of low-income Indians</a:t>
            </a:r>
            <a:br>
              <a:rPr dirty="0"/>
            </a:br>
            <a:r>
              <a:rPr dirty="0"/>
              <a:t>cannot access the stock market</a:t>
            </a:r>
            <a:br>
              <a:rPr dirty="0"/>
            </a:br>
            <a:r>
              <a:rPr dirty="0"/>
              <a:t>due to language and </a:t>
            </a:r>
            <a:r>
              <a:rPr lang="en-US" dirty="0"/>
              <a:t>Algo </a:t>
            </a:r>
            <a:br>
              <a:rPr lang="en-US" dirty="0"/>
            </a:br>
            <a:r>
              <a:rPr dirty="0"/>
              <a:t>complexity</a:t>
            </a:r>
            <a:r>
              <a:rPr lang="en-IN" dirty="0"/>
              <a:t> </a:t>
            </a:r>
            <a:r>
              <a:rPr dirty="0"/>
              <a:t>barriers. iStocks gives </a:t>
            </a:r>
            <a:br>
              <a:rPr lang="en-US" dirty="0"/>
            </a:br>
            <a:r>
              <a:rPr dirty="0"/>
              <a:t>them</a:t>
            </a:r>
            <a:r>
              <a:rPr lang="en-IN" dirty="0"/>
              <a:t> </a:t>
            </a:r>
            <a:r>
              <a:rPr dirty="0"/>
              <a:t>algo trading in their own </a:t>
            </a:r>
            <a:br>
              <a:rPr lang="en-US" dirty="0"/>
            </a:br>
            <a:r>
              <a:rPr dirty="0"/>
              <a:t>language.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5029200"/>
            <a:ext cx="2926080" cy="82296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51206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F4444"/>
                </a:solidFill>
                <a:latin typeface="Calibri"/>
              </a:defRPr>
            </a:pPr>
            <a:r>
              <a:t>Financial access for</a:t>
            </a:r>
            <a:br/>
            <a:r>
              <a:t>90%+ low-income Indians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828800"/>
            <a:ext cx="3474720" cy="438912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212079" y="2011679"/>
            <a:ext cx="2169222" cy="418391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92717" y="1986031"/>
            <a:ext cx="2011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SDG </a:t>
            </a:r>
            <a:r>
              <a:rPr lang="en-US" dirty="0"/>
              <a:t>9</a:t>
            </a:r>
            <a:r>
              <a:rPr dirty="0"/>
              <a:t>: </a:t>
            </a:r>
            <a:r>
              <a:rPr lang="en-IN" sz="1200" dirty="0"/>
              <a:t>Industry, innovation and infrastructure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4754879" y="3084722"/>
            <a:ext cx="292608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1D5DB"/>
                </a:solidFill>
                <a:latin typeface="Calibri"/>
              </a:defRPr>
            </a:pPr>
            <a:r>
              <a:rPr lang="en-IN" sz="1300" dirty="0"/>
              <a:t>Innovating a completely new financial system for retail traders, enabling advanced data analysis and AI-assisted trading strategies in their regional languages.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4754879" y="5029200"/>
            <a:ext cx="2926080" cy="82296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79" y="51206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  <a:latin typeface="Calibri"/>
              </a:defRPr>
            </a:pPr>
            <a:r>
              <a:t>Set strategy, go to work.</a:t>
            </a:r>
            <a:br/>
            <a:r>
              <a:t>AI trades for you.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828800"/>
            <a:ext cx="3474720" cy="438912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961120" y="2011680"/>
            <a:ext cx="2011680" cy="48463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0" y="2020824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SDG 10: Reduced</a:t>
            </a:r>
            <a:br>
              <a:rPr dirty="0"/>
            </a:br>
            <a:r>
              <a:rPr dirty="0"/>
              <a:t>Inequalities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073708"/>
            <a:ext cx="292608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1D5DB"/>
                </a:solidFill>
                <a:latin typeface="Calibri"/>
              </a:defRPr>
            </a:pPr>
            <a:r>
              <a:rPr dirty="0"/>
              <a:t>We give institutional-</a:t>
            </a:r>
            <a:br>
              <a:rPr dirty="0"/>
            </a:br>
            <a:r>
              <a:rPr dirty="0"/>
              <a:t>grade financial intelligence to</a:t>
            </a:r>
            <a:br>
              <a:rPr dirty="0"/>
            </a:br>
            <a:r>
              <a:rPr dirty="0"/>
              <a:t>every Indian — in 40+ regional</a:t>
            </a:r>
            <a:br>
              <a:rPr dirty="0"/>
            </a:br>
            <a:r>
              <a:rPr dirty="0"/>
              <a:t>languages, completely code-free.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0" y="5029200"/>
            <a:ext cx="2926080" cy="82296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03920" y="51206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Equal access in every</a:t>
            </a:r>
            <a:br/>
            <a:r>
              <a:t>Indian language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/>
              </a:defRPr>
            </a:pPr>
            <a:r>
              <a:t>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Why iStocks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First platform in India to enable AI-powered stock analysis and prompt-based algo trading — no code required.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103120" cy="438912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121408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B7280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2103120"/>
            <a:ext cx="2103120" cy="438912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17520" y="2121408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iStocks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2103120"/>
            <a:ext cx="2103120" cy="438912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0" y="2121408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B7280"/>
                </a:solidFill>
                <a:latin typeface="Calibri"/>
              </a:defRPr>
            </a:pPr>
            <a:r>
              <a:t>Zerodha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2103120"/>
            <a:ext cx="2103120" cy="438912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0" y="2121408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B7280"/>
                </a:solidFill>
                <a:latin typeface="Calibri"/>
              </a:defRPr>
            </a:pPr>
            <a:r>
              <a:t>Groww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0" y="2103120"/>
            <a:ext cx="2103120" cy="438912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0" y="2121408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B7280"/>
                </a:solidFill>
                <a:latin typeface="Calibri"/>
              </a:defRPr>
            </a:pPr>
            <a:r>
              <a:t>Smallcase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651760"/>
            <a:ext cx="2103120" cy="41148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2670048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1D5DB"/>
                </a:solidFill>
                <a:latin typeface="Calibri"/>
              </a:defRPr>
            </a:pPr>
            <a:r>
              <a:t>AI Analysis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17520" y="2651760"/>
            <a:ext cx="2103120" cy="411480"/>
          </a:xfrm>
          <a:prstGeom prst="roundRect">
            <a:avLst/>
          </a:prstGeom>
          <a:solidFill>
            <a:srgbClr val="0D1F17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017520" y="2670048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4D399"/>
                </a:solidFill>
                <a:latin typeface="Calibri"/>
              </a:defRPr>
            </a:pPr>
            <a:r>
              <a:t>Angle 1.0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0" y="2651760"/>
            <a:ext cx="2103120" cy="41148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0" y="2670048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2651760"/>
            <a:ext cx="2103120" cy="41148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20" y="2670048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75520" y="2651760"/>
            <a:ext cx="2103120" cy="41148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75520" y="2670048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127248"/>
            <a:ext cx="2103120" cy="411480"/>
          </a:xfrm>
          <a:prstGeom prst="roundRect">
            <a:avLst/>
          </a:prstGeom>
          <a:solidFill>
            <a:srgbClr val="13161E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3145536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1D5DB"/>
                </a:solidFill>
                <a:latin typeface="Calibri"/>
              </a:defRPr>
            </a:pPr>
            <a:r>
              <a:t>NL Database Chat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17520" y="3127248"/>
            <a:ext cx="2103120" cy="411480"/>
          </a:xfrm>
          <a:prstGeom prst="roundRect">
            <a:avLst/>
          </a:prstGeom>
          <a:solidFill>
            <a:srgbClr val="0D1F17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017520" y="3145536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4D399"/>
                </a:solidFill>
                <a:latin typeface="Calibri"/>
              </a:defRPr>
            </a:pPr>
            <a:r>
              <a:t>Full SQL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3127248"/>
            <a:ext cx="2103120" cy="411480"/>
          </a:xfrm>
          <a:prstGeom prst="roundRect">
            <a:avLst/>
          </a:prstGeom>
          <a:solidFill>
            <a:srgbClr val="13161E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03520" y="3145536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0" y="3127248"/>
            <a:ext cx="2103120" cy="411480"/>
          </a:xfrm>
          <a:prstGeom prst="roundRect">
            <a:avLst/>
          </a:prstGeom>
          <a:solidFill>
            <a:srgbClr val="13161E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89520" y="3145536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75520" y="3127248"/>
            <a:ext cx="2103120" cy="411480"/>
          </a:xfrm>
          <a:prstGeom prst="roundRect">
            <a:avLst/>
          </a:prstGeom>
          <a:solidFill>
            <a:srgbClr val="13161E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875520" y="3145536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3602736"/>
            <a:ext cx="2103120" cy="41148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20" y="3621024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1D5DB"/>
                </a:solidFill>
                <a:latin typeface="Calibri"/>
              </a:defRPr>
            </a:pPr>
            <a:r>
              <a:t>Algo Trading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017520" y="3602736"/>
            <a:ext cx="2103120" cy="411480"/>
          </a:xfrm>
          <a:prstGeom prst="roundRect">
            <a:avLst/>
          </a:prstGeom>
          <a:solidFill>
            <a:srgbClr val="0D1F17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017520" y="3621024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4D399"/>
                </a:solidFill>
                <a:latin typeface="Calibri"/>
              </a:defRPr>
            </a:pPr>
            <a:r>
              <a:t>Prompt-based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03520" y="3602736"/>
            <a:ext cx="2103120" cy="41148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303520" y="3621024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  <a:latin typeface="Calibri"/>
              </a:defRPr>
            </a:pPr>
            <a:r>
              <a:t>API only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89520" y="3602736"/>
            <a:ext cx="2103120" cy="41148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589520" y="3621024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875520" y="3602736"/>
            <a:ext cx="2103120" cy="41148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875520" y="3621024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4078224"/>
            <a:ext cx="2103120" cy="411480"/>
          </a:xfrm>
          <a:prstGeom prst="roundRect">
            <a:avLst/>
          </a:prstGeom>
          <a:solidFill>
            <a:srgbClr val="13161E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31520" y="4096511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1D5DB"/>
                </a:solidFill>
                <a:latin typeface="Calibri"/>
              </a:defRPr>
            </a:pPr>
            <a:r>
              <a:t>Regional Language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017520" y="4078224"/>
            <a:ext cx="2103120" cy="411480"/>
          </a:xfrm>
          <a:prstGeom prst="roundRect">
            <a:avLst/>
          </a:prstGeom>
          <a:solidFill>
            <a:srgbClr val="0D1F17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017520" y="4096511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4D399"/>
                </a:solidFill>
                <a:latin typeface="Calibri"/>
              </a:defRPr>
            </a:pPr>
            <a:r>
              <a:t>40+ langs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303520" y="4078224"/>
            <a:ext cx="2103120" cy="411480"/>
          </a:xfrm>
          <a:prstGeom prst="roundRect">
            <a:avLst/>
          </a:prstGeom>
          <a:solidFill>
            <a:srgbClr val="13161E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303520" y="4096511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589520" y="4078224"/>
            <a:ext cx="2103120" cy="411480"/>
          </a:xfrm>
          <a:prstGeom prst="roundRect">
            <a:avLst/>
          </a:prstGeom>
          <a:solidFill>
            <a:srgbClr val="13161E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589520" y="4096511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875520" y="4078224"/>
            <a:ext cx="2103120" cy="411480"/>
          </a:xfrm>
          <a:prstGeom prst="roundRect">
            <a:avLst/>
          </a:prstGeom>
          <a:solidFill>
            <a:srgbClr val="13161E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875520" y="4096511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31520" y="4553712"/>
            <a:ext cx="2103120" cy="41148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31520" y="4572000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1D5DB"/>
                </a:solidFill>
                <a:latin typeface="Calibri"/>
              </a:defRPr>
            </a:pPr>
            <a:r>
              <a:t>Free Tier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017520" y="4553712"/>
            <a:ext cx="2103120" cy="411480"/>
          </a:xfrm>
          <a:prstGeom prst="roundRect">
            <a:avLst/>
          </a:prstGeom>
          <a:solidFill>
            <a:srgbClr val="0D1F17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017520" y="4572000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4D399"/>
                </a:solidFill>
                <a:latin typeface="Calibri"/>
              </a:defRPr>
            </a:pPr>
            <a:r>
              <a:t>10 queries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303520" y="4553712"/>
            <a:ext cx="2103120" cy="41148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303520" y="4572000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  <a:latin typeface="Calibri"/>
              </a:defRPr>
            </a:pPr>
            <a:r>
              <a:t>Limited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589520" y="4553712"/>
            <a:ext cx="2103120" cy="41148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589520" y="4572000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  <a:latin typeface="Calibri"/>
              </a:defRPr>
            </a:pPr>
            <a:r>
              <a:t>Paid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875520" y="4553712"/>
            <a:ext cx="2103120" cy="41148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875520" y="4572000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  <a:latin typeface="Calibri"/>
              </a:defRPr>
            </a:pPr>
            <a:r>
              <a:t>Paid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31520" y="5029200"/>
            <a:ext cx="2103120" cy="411480"/>
          </a:xfrm>
          <a:prstGeom prst="roundRect">
            <a:avLst/>
          </a:prstGeom>
          <a:solidFill>
            <a:srgbClr val="13161E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31520" y="5047488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1D5DB"/>
                </a:solidFill>
                <a:latin typeface="Calibri"/>
              </a:defRPr>
            </a:pPr>
            <a:r>
              <a:t>Real-Time Data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017520" y="5029200"/>
            <a:ext cx="2103120" cy="411480"/>
          </a:xfrm>
          <a:prstGeom prst="roundRect">
            <a:avLst/>
          </a:prstGeom>
          <a:solidFill>
            <a:srgbClr val="0D1F17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017520" y="5047488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4D399"/>
                </a:solidFill>
                <a:latin typeface="Calibri"/>
              </a:defRPr>
            </a:pPr>
            <a:r>
              <a:t>2s refresh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303520" y="5029200"/>
            <a:ext cx="2103120" cy="411480"/>
          </a:xfrm>
          <a:prstGeom prst="roundRect">
            <a:avLst/>
          </a:prstGeom>
          <a:solidFill>
            <a:srgbClr val="13161E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303520" y="5047488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589520" y="5029200"/>
            <a:ext cx="2103120" cy="411480"/>
          </a:xfrm>
          <a:prstGeom prst="roundRect">
            <a:avLst/>
          </a:prstGeom>
          <a:solidFill>
            <a:srgbClr val="13161E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589520" y="5047488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875520" y="5029200"/>
            <a:ext cx="2103120" cy="411480"/>
          </a:xfrm>
          <a:prstGeom prst="roundRect">
            <a:avLst/>
          </a:prstGeom>
          <a:solidFill>
            <a:srgbClr val="13161E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875520" y="5047488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  <a:latin typeface="Calibri"/>
              </a:defRPr>
            </a:pPr>
            <a:r>
              <a:t>Delayed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31520" y="5504688"/>
            <a:ext cx="2103120" cy="41148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31520" y="5522975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1D5DB"/>
                </a:solidFill>
                <a:latin typeface="Calibri"/>
              </a:defRPr>
            </a:pPr>
            <a:r>
              <a:t>40+ Indicators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017520" y="5504688"/>
            <a:ext cx="2103120" cy="411480"/>
          </a:xfrm>
          <a:prstGeom prst="roundRect">
            <a:avLst/>
          </a:prstGeom>
          <a:solidFill>
            <a:srgbClr val="0D1F17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3017520" y="5522975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4D399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303520" y="5504688"/>
            <a:ext cx="2103120" cy="41148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303520" y="5522975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  <a:latin typeface="Calibri"/>
              </a:defRPr>
            </a:pPr>
            <a:r>
              <a:t>Basic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589520" y="5504688"/>
            <a:ext cx="2103120" cy="41148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589520" y="5522975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  <a:latin typeface="Calibri"/>
              </a:defRPr>
            </a:pPr>
            <a:r>
              <a:t>Basic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875520" y="5504688"/>
            <a:ext cx="2103120" cy="41148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875520" y="5522975"/>
            <a:ext cx="21031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1D5DB"/>
                </a:solidFill>
                <a:latin typeface="Calibri"/>
              </a:defRPr>
            </a:pPr>
            <a:r>
              <a:t>None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Why We Need $1M and How We Will Use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Calibri"/>
              </a:defRPr>
            </a:pPr>
            <a:r>
              <a:t>Our P&amp;L model shows breakeven in Month 10-11 with $753K PAT over 18 months.</a:t>
            </a:r>
            <a:br/>
            <a:r>
              <a:t>The $1M accelerates us to profitability faster and enables global expansion.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4730"/>
            <a:ext cx="2560320" cy="2910654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85777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Calibri"/>
              </a:defRPr>
            </a:pPr>
            <a:r>
              <a:rPr dirty="0"/>
              <a:t>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59045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1D5DB"/>
                </a:solidFill>
                <a:latin typeface="Calibri"/>
              </a:defRPr>
            </a:pPr>
            <a:r>
              <a:rPr dirty="0"/>
              <a:t>$400K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3697466"/>
            <a:ext cx="146304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773831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Technology &amp;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42046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rPr dirty="0"/>
              <a:t>LLM API cost: $88.5K</a:t>
            </a:r>
            <a:br>
              <a:rPr dirty="0"/>
            </a:br>
            <a:r>
              <a:rPr dirty="0"/>
              <a:t>Cloud infra: $140K</a:t>
            </a:r>
            <a:br>
              <a:rPr dirty="0"/>
            </a:br>
            <a:r>
              <a:rPr dirty="0"/>
              <a:t>Market Data API: $44.6K</a:t>
            </a:r>
            <a:br>
              <a:rPr dirty="0"/>
            </a:br>
            <a:r>
              <a:rPr dirty="0"/>
              <a:t>Angle 1.1 scaling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560320"/>
            <a:ext cx="2560320" cy="2915063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66160" y="2841055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  <a:latin typeface="Calibri"/>
              </a:defRPr>
            </a:pPr>
            <a:r>
              <a:rPr dirty="0"/>
              <a:t>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314297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1D5DB"/>
                </a:solidFill>
                <a:latin typeface="Calibri"/>
              </a:defRPr>
            </a:pPr>
            <a:r>
              <a:rPr dirty="0"/>
              <a:t>$250K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3669630"/>
            <a:ext cx="146304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66160" y="37450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User Acquisition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4295198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rPr dirty="0"/>
              <a:t>Marketing: $130K</a:t>
            </a:r>
            <a:br>
              <a:rPr dirty="0"/>
            </a:br>
            <a:r>
              <a:rPr dirty="0"/>
              <a:t>College visits: $17.6K</a:t>
            </a:r>
            <a:br>
              <a:rPr dirty="0"/>
            </a:br>
            <a:r>
              <a:rPr dirty="0"/>
              <a:t>YouTube + Telegram</a:t>
            </a:r>
            <a:br>
              <a:rPr dirty="0"/>
            </a:br>
            <a:r>
              <a:rPr dirty="0"/>
              <a:t>Discord channels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567542"/>
            <a:ext cx="2560320" cy="2907841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2825013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8B5CF6"/>
                </a:solidFill>
                <a:latin typeface="Calibri"/>
              </a:defRPr>
            </a:pPr>
            <a:r>
              <a:rPr dirty="0"/>
              <a:t>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32231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1D5DB"/>
                </a:solidFill>
                <a:latin typeface="Calibri"/>
              </a:defRPr>
            </a:pPr>
            <a:r>
              <a:rPr dirty="0"/>
              <a:t>$200K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3653588"/>
            <a:ext cx="146304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3720965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Team (8 FTEs)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290458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rPr dirty="0"/>
              <a:t>Team cost: $112K</a:t>
            </a:r>
            <a:br>
              <a:rPr dirty="0"/>
            </a:br>
            <a:r>
              <a:rPr dirty="0"/>
              <a:t>2 Founders, 2 Devs</a:t>
            </a:r>
            <a:br>
              <a:rPr dirty="0"/>
            </a:br>
            <a:r>
              <a:rPr dirty="0"/>
              <a:t>1 Marketing, 1 Legal</a:t>
            </a:r>
            <a:br>
              <a:rPr dirty="0"/>
            </a:br>
            <a:r>
              <a:rPr dirty="0"/>
              <a:t>1 Mobile Dev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2567542"/>
            <a:ext cx="2560320" cy="2907841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35440" y="2776887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9E0B"/>
                </a:solidFill>
                <a:latin typeface="Calibri"/>
              </a:defRPr>
            </a:pPr>
            <a:r>
              <a:rPr dirty="0"/>
              <a:t>15%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29023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1D5DB"/>
                </a:solidFill>
                <a:latin typeface="Calibri"/>
              </a:defRPr>
            </a:pPr>
            <a:r>
              <a:rPr dirty="0"/>
              <a:t>$150K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84080" y="3637546"/>
            <a:ext cx="14630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35440" y="3688881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Compliance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4290458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rPr dirty="0"/>
              <a:t>SEBI broker license</a:t>
            </a:r>
            <a:br>
              <a:rPr dirty="0"/>
            </a:br>
            <a:r>
              <a:rPr dirty="0"/>
              <a:t>By Jan 2027</a:t>
            </a:r>
            <a:br>
              <a:rPr dirty="0"/>
            </a:br>
            <a:r>
              <a:rPr dirty="0"/>
              <a:t>Unlocks brokerage</a:t>
            </a:r>
            <a:br>
              <a:rPr dirty="0"/>
            </a:br>
            <a:r>
              <a:rPr dirty="0"/>
              <a:t>revenue: $1.52M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/>
              </a:defRPr>
            </a:pPr>
            <a:r>
              <a:t>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IIT Roorkee Engineers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256032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6614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Priyanshu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3365"/>
            <a:ext cx="2560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4D399"/>
                </a:solidFill>
                <a:latin typeface="Calibri"/>
              </a:defRPr>
            </a:pPr>
            <a:r>
              <a:rPr dirty="0"/>
              <a:t>Captain | </a:t>
            </a:r>
            <a:r>
              <a:rPr lang="en-US" dirty="0"/>
              <a:t>CEO &amp; Product Lead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25603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rPr dirty="0"/>
              <a:t>Built :</a:t>
            </a:r>
            <a:br>
              <a:rPr dirty="0"/>
            </a:br>
            <a:r>
              <a:rPr lang="en-US" dirty="0"/>
              <a:t>Data analysis agent, Execution agent, </a:t>
            </a:r>
            <a:br>
              <a:rPr lang="en-US" dirty="0"/>
            </a:br>
            <a:r>
              <a:rPr lang="en-US" dirty="0"/>
              <a:t>UI/UX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3566160" y="1463040"/>
            <a:ext cx="2560320" cy="256032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93870" y="26485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Sachin Verma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3593870" y="3013365"/>
            <a:ext cx="2560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B82F6"/>
                </a:solidFill>
                <a:latin typeface="Calibri"/>
              </a:defRPr>
            </a:pPr>
            <a:r>
              <a:rPr dirty="0"/>
              <a:t>Co-Founder | </a:t>
            </a:r>
            <a:r>
              <a:rPr lang="en-US" dirty="0"/>
              <a:t>Quant Developer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3580015" y="3246120"/>
            <a:ext cx="25603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rPr lang="en-US" dirty="0"/>
              <a:t>Built:</a:t>
            </a:r>
            <a:br>
              <a:rPr lang="en-US" dirty="0"/>
            </a:br>
            <a:r>
              <a:rPr lang="en-US" dirty="0"/>
              <a:t>Trading analysis agent, Quantitative programming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6858000" y="9144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1D5DB"/>
                </a:solidFill>
                <a:latin typeface="Calibri"/>
              </a:defRPr>
            </a:pPr>
            <a:r>
              <a:t>Let's make financial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0116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4D399"/>
                </a:solidFill>
                <a:latin typeface="Calibri"/>
              </a:defRPr>
            </a:pPr>
            <a:r>
              <a:t>UNLIMITED.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2743200"/>
            <a:ext cx="4572000" cy="173736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4D399"/>
                </a:solidFill>
                <a:latin typeface="Calibri"/>
              </a:defRPr>
            </a:pPr>
            <a:r>
              <a:rPr dirty="0"/>
              <a:t>istocks.codes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200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1D5DB"/>
                </a:solidFill>
                <a:latin typeface="Calibri"/>
              </a:defRPr>
            </a:pPr>
            <a:r>
              <a:rPr dirty="0"/>
              <a:t>priyanshu85953@gmail.com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68737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1D5DB"/>
                </a:solidFill>
                <a:latin typeface="Calibri"/>
              </a:defRPr>
            </a:pPr>
            <a:r>
              <a:rPr dirty="0"/>
              <a:t>IIT Roorkee  |  Team iStocks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96488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Calibri"/>
              </a:defRPr>
            </a:pPr>
            <a:r>
              <a:rPr dirty="0"/>
              <a:t>Hult Prize 2026  |  UNLIMITED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730219"/>
            <a:ext cx="10698480" cy="1097280"/>
          </a:xfrm>
          <a:prstGeom prst="roundRect">
            <a:avLst/>
          </a:prstGeom>
          <a:solidFill>
            <a:srgbClr val="1A1D26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43891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9E0B"/>
                </a:solidFill>
                <a:latin typeface="Calibri"/>
              </a:defRPr>
            </a:pPr>
            <a:r>
              <a:t>RESOURCES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005190"/>
            <a:ext cx="103327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4D399"/>
                </a:solidFill>
                <a:latin typeface="Calibri"/>
              </a:defRPr>
            </a:pPr>
            <a:r>
              <a:rPr dirty="0"/>
              <a:t>Live Platform:  istocks.codes</a:t>
            </a:r>
          </a:p>
          <a:p>
            <a:pPr>
              <a:spcAft>
                <a:spcPts val="400"/>
              </a:spcAft>
              <a:defRPr sz="1300" b="0">
                <a:solidFill>
                  <a:srgbClr val="D1D5DB"/>
                </a:solidFill>
                <a:latin typeface="Calibri"/>
              </a:defRPr>
            </a:pPr>
            <a:r>
              <a:rPr dirty="0"/>
              <a:t>P&amp;L Structure: </a:t>
            </a:r>
            <a:r>
              <a:rPr lang="en-IN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https://docs.google.com/spreadsheets/d/1FBF0DQ7OvbC6qMLA-DRlWNEC5OXlrWtAetMN43bYvL0/edit?usp=sharing</a:t>
            </a:r>
            <a:endParaRPr dirty="0"/>
          </a:p>
        </p:txBody>
      </p:sp>
      <p:sp>
        <p:nvSpPr>
          <p:cNvPr id="28" name="Rounded Rectangle 27"/>
          <p:cNvSpPr/>
          <p:nvPr/>
        </p:nvSpPr>
        <p:spPr>
          <a:xfrm>
            <a:off x="762000" y="6035040"/>
            <a:ext cx="10698480" cy="36576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731520" y="6089904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SDG 1: No Poverty   |   SDG 8: Economic Growth   |   SDG 10: Reduced Inequalities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803136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A person in a suit&#10;&#10;AI-generated content may be incorrect.">
            <a:extLst>
              <a:ext uri="{FF2B5EF4-FFF2-40B4-BE49-F238E27FC236}">
                <a16:creationId xmlns:a16="http://schemas.microsoft.com/office/drawing/2014/main" id="{CA44EA67-86A3-478C-554A-33A2B9B61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2162" y="1553603"/>
            <a:ext cx="1099035" cy="1099035"/>
          </a:xfrm>
          <a:prstGeom prst="ellipse">
            <a:avLst/>
          </a:prstGeom>
        </p:spPr>
      </p:pic>
      <p:pic>
        <p:nvPicPr>
          <p:cNvPr id="36" name="Picture 35" descr="A person in a suit and tie&#10;&#10;AI-generated content may be incorrect.">
            <a:extLst>
              <a:ext uri="{FF2B5EF4-FFF2-40B4-BE49-F238E27FC236}">
                <a16:creationId xmlns:a16="http://schemas.microsoft.com/office/drawing/2014/main" id="{2A601DDC-7B9A-BA1E-63DD-A5544EB900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1678" y="1567571"/>
            <a:ext cx="1021842" cy="1021842"/>
          </a:xfrm>
          <a:prstGeom prst="ellipse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61A982A3-3BFD-CCC2-A5C9-F7508D84365B}"/>
              </a:ext>
            </a:extLst>
          </p:cNvPr>
          <p:cNvSpPr txBox="1"/>
          <p:nvPr/>
        </p:nvSpPr>
        <p:spPr>
          <a:xfrm>
            <a:off x="6872172" y="3427231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1D5DB"/>
                </a:solidFill>
                <a:latin typeface="Calibri"/>
              </a:defRPr>
            </a:pPr>
            <a:r>
              <a:rPr lang="en-IN" dirty="0"/>
              <a:t>sachinverma70076@gmail.com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1430</TotalTime>
  <Words>1095</Words>
  <Application>Microsoft Macintosh PowerPoint</Application>
  <PresentationFormat>Widescreen</PresentationFormat>
  <Paragraphs>227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PRIYANSHU</cp:lastModifiedBy>
  <cp:revision>3</cp:revision>
  <cp:lastPrinted>2026-02-16T13:44:09Z</cp:lastPrinted>
  <dcterms:created xsi:type="dcterms:W3CDTF">2013-01-27T09:14:16Z</dcterms:created>
  <dcterms:modified xsi:type="dcterms:W3CDTF">2026-02-16T14:13:05Z</dcterms:modified>
  <cp:category/>
</cp:coreProperties>
</file>